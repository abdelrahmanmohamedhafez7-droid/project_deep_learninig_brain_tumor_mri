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Gill Sans"/>
      <p:regular r:id="rId25"/>
      <p:bold r:id="rId26"/>
    </p:embeddedFont>
    <p:embeddedFont>
      <p:font typeface="Merriweath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" name="Google Shape;31;p3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5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2" name="Google Shape;62;p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4" name="Google Shape;74;p9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0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7" name="Google Shape;77;p10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0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0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1" name="Google Shape;81;p10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10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5" name="Google Shape;85;p10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2" name="Google Shape;92;p1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rtl="1" algn="r">
              <a:spcBef>
                <a:spcPts val="0"/>
              </a:spcBef>
              <a:buNone/>
              <a:defRPr/>
            </a:lvl1pPr>
            <a:lvl2pPr indent="0" lvl="1" marL="0" rtl="1" algn="r">
              <a:spcBef>
                <a:spcPts val="0"/>
              </a:spcBef>
              <a:buNone/>
              <a:defRPr/>
            </a:lvl2pPr>
            <a:lvl3pPr indent="0" lvl="2" marL="0" rtl="1" algn="r">
              <a:spcBef>
                <a:spcPts val="0"/>
              </a:spcBef>
              <a:buNone/>
              <a:defRPr/>
            </a:lvl3pPr>
            <a:lvl4pPr indent="0" lvl="3" marL="0" rtl="1" algn="r">
              <a:spcBef>
                <a:spcPts val="0"/>
              </a:spcBef>
              <a:buNone/>
              <a:defRPr/>
            </a:lvl4pPr>
            <a:lvl5pPr indent="0" lvl="4" marL="0" rtl="1" algn="r">
              <a:spcBef>
                <a:spcPts val="0"/>
              </a:spcBef>
              <a:buNone/>
              <a:defRPr/>
            </a:lvl5pPr>
            <a:lvl6pPr indent="0" lvl="5" marL="0" rtl="1" algn="r">
              <a:spcBef>
                <a:spcPts val="0"/>
              </a:spcBef>
              <a:buNone/>
              <a:defRPr/>
            </a:lvl6pPr>
            <a:lvl7pPr indent="0" lvl="6" marL="0" rtl="1" algn="r">
              <a:spcBef>
                <a:spcPts val="0"/>
              </a:spcBef>
              <a:buNone/>
              <a:defRPr/>
            </a:lvl7pPr>
            <a:lvl8pPr indent="0" lvl="7" marL="0" rtl="1" algn="r">
              <a:spcBef>
                <a:spcPts val="0"/>
              </a:spcBef>
              <a:buNone/>
              <a:defRPr/>
            </a:lvl8pPr>
            <a:lvl9pPr indent="0" lvl="8" marL="0" rtl="1" algn="r">
              <a:spcBef>
                <a:spcPts val="0"/>
              </a:spcBef>
              <a:buNone/>
              <a:defRPr/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9" name="Google Shape;99;p12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1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1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1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1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1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1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1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1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type="title"/>
          </p:nvPr>
        </p:nvSpPr>
        <p:spPr>
          <a:xfrm>
            <a:off x="970671" y="1871003"/>
            <a:ext cx="10986867" cy="2644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b="1" lang="en-US" sz="36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DEEP LEARNING:- </a:t>
            </a:r>
            <a: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u="sng"/>
              <a:t>BRAIN TUMOR MRI</a:t>
            </a:r>
            <a:br>
              <a:rPr lang="en-US"/>
            </a:br>
            <a:b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DATE:- 18/7/2025</a:t>
            </a:r>
            <a:br>
              <a:rPr b="1"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/>
          </a:p>
        </p:txBody>
      </p:sp>
      <p:sp>
        <p:nvSpPr>
          <p:cNvPr id="105" name="Google Shape;105;p13"/>
          <p:cNvSpPr/>
          <p:nvPr/>
        </p:nvSpPr>
        <p:spPr>
          <a:xfrm>
            <a:off x="1294363" y="2904382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idx="1" type="body"/>
          </p:nvPr>
        </p:nvSpPr>
        <p:spPr>
          <a:xfrm>
            <a:off x="1294362" y="1033068"/>
            <a:ext cx="9603275" cy="7005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b="1" lang="en-US" sz="32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Name:-</a:t>
            </a: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 Abdelrahman Mohamed Hafez. </a:t>
            </a:r>
            <a:endParaRPr b="1" sz="3200" u="sng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n-US" sz="2800" u="sn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tool: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Python + Google Colab  </a:t>
            </a:r>
            <a:endParaRPr b="1" sz="2400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</a:pPr>
            <a:r>
              <a:t/>
            </a:r>
            <a:endParaRPr b="1" sz="800" u="sng"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ill Sans"/>
              <a:buNone/>
            </a:pPr>
            <a:r>
              <a:rPr b="1" lang="en-US" u="sng">
                <a:solidFill>
                  <a:srgbClr val="FF0000"/>
                </a:solidFill>
              </a:rPr>
              <a:t>TABLE OF CONTENTS:-</a:t>
            </a:r>
            <a:endParaRPr b="1"/>
          </a:p>
        </p:txBody>
      </p:sp>
      <p:sp>
        <p:nvSpPr>
          <p:cNvPr id="116" name="Google Shape;116;p15"/>
          <p:cNvSpPr txBox="1"/>
          <p:nvPr/>
        </p:nvSpPr>
        <p:spPr>
          <a:xfrm>
            <a:off x="1451579" y="1823832"/>
            <a:ext cx="1030942" cy="730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erriweather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01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451579" y="2410910"/>
            <a:ext cx="2388901" cy="73045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Introduction / Problem Statement</a:t>
            </a:r>
            <a:endParaRPr b="1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550198" y="1878117"/>
            <a:ext cx="1030942" cy="730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erriweather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02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81423" y="2500310"/>
            <a:ext cx="3010577" cy="50363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 / Goals</a:t>
            </a:r>
            <a:endParaRPr b="1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295604" y="3090446"/>
            <a:ext cx="27994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Dataset Description</a:t>
            </a:r>
            <a:endParaRPr b="1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179868" y="2386900"/>
            <a:ext cx="1030942" cy="730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erriweather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03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547872" y="3307586"/>
            <a:ext cx="1030942" cy="730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erriweather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05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451579" y="3307586"/>
            <a:ext cx="1030942" cy="730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erriweather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04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181423" y="4134434"/>
            <a:ext cx="279478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Model Selection &amp; Pipeline</a:t>
            </a:r>
            <a:endParaRPr b="1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082786" y="4134434"/>
            <a:ext cx="27994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 Preprocessing</a:t>
            </a:r>
            <a:endParaRPr b="1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451579" y="4691590"/>
            <a:ext cx="1030942" cy="730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erriweather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06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246294" y="5431438"/>
            <a:ext cx="27994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Training and Evaluation</a:t>
            </a:r>
            <a:endParaRPr b="1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179868" y="4303711"/>
            <a:ext cx="1030942" cy="730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erriweather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07</a:t>
            </a:r>
            <a:endParaRPr b="1" i="0" sz="3200" u="none" cap="none" strike="noStrike"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295604" y="5012203"/>
            <a:ext cx="27994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Results &amp; Findings</a:t>
            </a:r>
            <a:endParaRPr b="1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8969532" y="5431438"/>
            <a:ext cx="279947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Conclusion And Photos</a:t>
            </a:r>
            <a:endParaRPr b="1" i="0" sz="1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9547872" y="4646974"/>
            <a:ext cx="1030942" cy="73045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erriweather"/>
              <a:buNone/>
            </a:pPr>
            <a:r>
              <a:rPr b="1" i="0" lang="en-US" sz="3200" u="none" cap="none" strike="noStrike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08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1479713" y="1199270"/>
            <a:ext cx="10604435" cy="4459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ill Sans"/>
              <a:buNone/>
            </a:pPr>
            <a:r>
              <a:rPr b="1" lang="en-US" sz="3200">
                <a:solidFill>
                  <a:srgbClr val="FF0000"/>
                </a:solidFill>
              </a:rPr>
              <a:t>1. </a:t>
            </a:r>
            <a:r>
              <a:rPr b="1" lang="en-US">
                <a:solidFill>
                  <a:srgbClr val="FF0000"/>
                </a:solidFill>
              </a:rPr>
              <a:t>INTRODUCTION / PROBLEM STATEMENT</a:t>
            </a:r>
            <a:r>
              <a:rPr b="1" lang="en-US" sz="3200">
                <a:solidFill>
                  <a:srgbClr val="FF0000"/>
                </a:solidFill>
              </a:rPr>
              <a:t>:-</a:t>
            </a:r>
            <a:br>
              <a:rPr b="1" lang="en-US" sz="3200">
                <a:solidFill>
                  <a:srgbClr val="FF0000"/>
                </a:solidFill>
              </a:rPr>
            </a:br>
            <a:br>
              <a:rPr b="1" lang="en-US" sz="3200">
                <a:solidFill>
                  <a:srgbClr val="FF0000"/>
                </a:solidFill>
              </a:rPr>
            </a:br>
            <a:r>
              <a:rPr b="1" lang="en-US" sz="2200">
                <a:solidFill>
                  <a:srgbClr val="FF0000"/>
                </a:solidFill>
              </a:rPr>
              <a:t>WHAT’S THE PROBLEM?</a:t>
            </a:r>
            <a:br>
              <a:rPr b="1" lang="en-US" sz="2200"/>
            </a:br>
            <a:r>
              <a:rPr b="1" lang="en-US" sz="2400"/>
              <a:t>DETECTING THE PRESENCE OF BRAIN TUMORS USING MRI IMAGES.</a:t>
            </a:r>
            <a:br>
              <a:rPr b="1" lang="en-US" sz="2200"/>
            </a:br>
            <a:r>
              <a:rPr b="1" lang="en-US" sz="2200">
                <a:solidFill>
                  <a:srgbClr val="FF0000"/>
                </a:solidFill>
              </a:rPr>
              <a:t>WHY IS IT IMPORTANT?</a:t>
            </a:r>
            <a:br>
              <a:rPr b="1" lang="en-US" sz="2400"/>
            </a:br>
            <a:r>
              <a:rPr b="1" lang="en-US" sz="2400"/>
              <a:t>EARLY DETECTION OF BRAIN TUMORS CAN SAVE LIVES AND IMPROVE TREATMENT OUTCOMES.</a:t>
            </a:r>
            <a:br>
              <a:rPr b="1" lang="en-US" sz="2400"/>
            </a:br>
            <a:r>
              <a:rPr b="1" lang="en-US" sz="2400"/>
              <a:t>AUTOMATING DIAGNOSIS WITH DEEP LEARNING REDUCES HUMAN ERROR AND SPEEDS UP THE PROCESS.</a:t>
            </a:r>
            <a:br>
              <a:rPr b="1" lang="en-US" sz="2400"/>
            </a:br>
            <a:r>
              <a:rPr b="1" lang="en-US" sz="2400">
                <a:solidFill>
                  <a:srgbClr val="FF0000"/>
                </a:solidFill>
              </a:rPr>
              <a:t>GOAL: </a:t>
            </a:r>
            <a:r>
              <a:rPr b="1" lang="en-US" sz="2400"/>
              <a:t>BUILD A DL MODEL THAT CAN CLASSIFY MRIS INTO "TUMOR" OR "NO TUMOR".</a:t>
            </a:r>
            <a:endParaRPr b="1" sz="2200"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3308514" y="818970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ill Sans"/>
              <a:buNone/>
            </a:pPr>
            <a:r>
              <a:rPr b="1" lang="en-US" u="sng">
                <a:solidFill>
                  <a:srgbClr val="FF0000"/>
                </a:solidFill>
              </a:rPr>
              <a:t>2. OBJECTIVES / GOALS:</a:t>
            </a:r>
            <a:endParaRPr b="1" u="sng">
              <a:solidFill>
                <a:srgbClr val="FF0000"/>
              </a:solidFill>
            </a:endParaRPr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Build a </a:t>
            </a:r>
            <a:r>
              <a:rPr b="1" lang="en-US" sz="2400"/>
              <a:t>Deep Learning classification model</a:t>
            </a:r>
            <a:r>
              <a:rPr lang="en-US" sz="2400"/>
              <a:t> using CNN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Achieve </a:t>
            </a:r>
            <a:r>
              <a:rPr b="1" lang="en-US" sz="2400"/>
              <a:t>at least 80% test accuracy</a:t>
            </a:r>
            <a:r>
              <a:rPr lang="en-US" sz="2400"/>
              <a:t>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Experiment with both: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custom CNN model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pre-trained model (VGG16 - Transfer Learning)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1851306" y="804520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ill Sans"/>
              <a:buNone/>
            </a:pPr>
            <a:r>
              <a:rPr b="1" lang="en-US" u="sng">
                <a:solidFill>
                  <a:srgbClr val="FF0000"/>
                </a:solidFill>
              </a:rPr>
              <a:t>3. DATASET DESCRIPTION:</a:t>
            </a:r>
            <a:endParaRPr b="1" u="sng">
              <a:solidFill>
                <a:srgbClr val="FF0000"/>
              </a:solidFill>
            </a:endParaRPr>
          </a:p>
        </p:txBody>
      </p:sp>
      <p:sp>
        <p:nvSpPr>
          <p:cNvPr id="148" name="Google Shape;148;p18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Dataset name:</a:t>
            </a:r>
            <a:r>
              <a:rPr lang="en-US" sz="2400"/>
              <a:t> Brain Tumor MRI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Classes:</a:t>
            </a:r>
            <a:r>
              <a:rPr lang="en-US" sz="2400"/>
              <a:t> 2 (Yes - Tumor, No - No Tumor)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Images Size:</a:t>
            </a:r>
            <a:r>
              <a:rPr lang="en-US" sz="2400"/>
              <a:t> Resized to 128×128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Total images:</a:t>
            </a:r>
            <a:r>
              <a:rPr lang="en-US" sz="2400"/>
              <a:t> Around 3000+ split across two folders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1451578" y="966497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ill Sans"/>
              <a:buNone/>
            </a:pPr>
            <a:r>
              <a:rPr b="1" lang="en-US" u="sng">
                <a:solidFill>
                  <a:srgbClr val="FF0000"/>
                </a:solidFill>
              </a:rPr>
              <a:t>4.DATA PREPROCESSING</a:t>
            </a:r>
            <a:endParaRPr b="1" u="sng">
              <a:solidFill>
                <a:srgbClr val="FF0000"/>
              </a:solidFill>
            </a:endParaRPr>
          </a:p>
        </p:txBody>
      </p:sp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1451578" y="2015732"/>
            <a:ext cx="10280877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Cleaning:</a:t>
            </a:r>
            <a:r>
              <a:rPr lang="en-US"/>
              <a:t> Skipped unreadable or damaged files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Normalization:</a:t>
            </a:r>
            <a:r>
              <a:rPr lang="en-US"/>
              <a:t> Pixel values scaled between 0 and 1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Augmentation:</a:t>
            </a:r>
            <a:r>
              <a:rPr lang="en-US"/>
              <a:t> Applied random transformations to increase diversity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Rotation, flipping, shifting, zooming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Splitting: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70% training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15% validation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15% testing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1451577" y="1121241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ill Sans"/>
              <a:buNone/>
            </a:pPr>
            <a:r>
              <a:rPr b="1" lang="en-US" u="sng">
                <a:solidFill>
                  <a:srgbClr val="FF0000"/>
                </a:solidFill>
              </a:rPr>
              <a:t>5. MODEL SELECTION &amp; PIPELINE</a:t>
            </a:r>
            <a:endParaRPr b="1" u="sng">
              <a:solidFill>
                <a:srgbClr val="FF0000"/>
              </a:solidFill>
            </a:endParaRPr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1374616" y="1963998"/>
            <a:ext cx="9757196" cy="3950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1600"/>
              <a:t>Custom CNN: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2 Conv2D layers + MaxPooling</a:t>
            </a:r>
            <a:endParaRPr sz="16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Flatten → Dense (128) → Dropout → Dense(2, softmax)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1600"/>
              <a:t>Activation:</a:t>
            </a:r>
            <a:r>
              <a:rPr lang="en-US" sz="1600"/>
              <a:t> ReLU, Softmax</a:t>
            </a:r>
            <a:endParaRPr sz="16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1600"/>
              <a:t>Loss:</a:t>
            </a:r>
            <a:r>
              <a:rPr lang="en-US" sz="1600"/>
              <a:t> Categorical Crossentropy</a:t>
            </a:r>
            <a:endParaRPr sz="16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1600"/>
              <a:t>Optimizer:</a:t>
            </a:r>
            <a:r>
              <a:rPr lang="en-US" sz="1600"/>
              <a:t> Adam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1600"/>
              <a:t>VGG16 Transfer Learning: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Pre-trained VGG16 as feature extractor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Added custom dense layers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1600"/>
              <a:t>Only top layers trained (base frozen)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ill Sans"/>
              <a:buNone/>
            </a:pPr>
            <a:r>
              <a:rPr b="1" lang="en-US" u="sng">
                <a:solidFill>
                  <a:srgbClr val="FF0000"/>
                </a:solidFill>
              </a:rPr>
              <a:t>6. TRAINING AND EVALUATION</a:t>
            </a:r>
            <a:endParaRPr b="1" u="sng">
              <a:solidFill>
                <a:srgbClr val="FF0000"/>
              </a:solidFill>
            </a:endParaRPr>
          </a:p>
        </p:txBody>
      </p:sp>
      <p:sp>
        <p:nvSpPr>
          <p:cNvPr id="166" name="Google Shape;166;p21"/>
          <p:cNvSpPr txBox="1"/>
          <p:nvPr>
            <p:ph idx="1" type="body"/>
          </p:nvPr>
        </p:nvSpPr>
        <p:spPr>
          <a:xfrm>
            <a:off x="1451578" y="1853754"/>
            <a:ext cx="9978421" cy="41997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Epochs:</a:t>
            </a:r>
            <a:r>
              <a:rPr lang="en-US" sz="1800"/>
              <a:t> CNN (20), VGG16 (10)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Batch Size:</a:t>
            </a:r>
            <a:r>
              <a:rPr lang="en-US" sz="1800"/>
              <a:t> 32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Callbacks:</a:t>
            </a:r>
            <a:r>
              <a:rPr lang="en-US" sz="1800"/>
              <a:t> EarlyStopping, ReduceLROnPlateau, ModelCheckpoint</a:t>
            </a:r>
            <a:endParaRPr sz="18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Metrics used:</a:t>
            </a:r>
            <a:r>
              <a:rPr lang="en-US" sz="1800"/>
              <a:t> Accuracy, Precision, Recall, F1-score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Evaluation Visuals: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Accuracy / Loss Curves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Confusion Matrix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Classification Report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1451579" y="748248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ill Sans"/>
              <a:buNone/>
            </a:pPr>
            <a:r>
              <a:rPr b="1" lang="en-US" u="sng">
                <a:solidFill>
                  <a:srgbClr val="FF0000"/>
                </a:solidFill>
              </a:rPr>
              <a:t>7. RESULTS &amp; FINDINGS</a:t>
            </a:r>
            <a:endParaRPr b="1" u="sng">
              <a:solidFill>
                <a:srgbClr val="FF0000"/>
              </a:solidFill>
            </a:endParaRPr>
          </a:p>
        </p:txBody>
      </p:sp>
      <p:sp>
        <p:nvSpPr>
          <p:cNvPr id="172" name="Google Shape;172;p22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 u="sng">
                <a:solidFill>
                  <a:srgbClr val="FF0000"/>
                </a:solidFill>
              </a:rPr>
              <a:t>CNN Model: Accuracy: </a:t>
            </a:r>
            <a:r>
              <a:rPr b="1" lang="en-US" sz="2400"/>
              <a:t>~88.00%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Good generalization and learning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Strong performance with basic architecture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 u="sng">
                <a:solidFill>
                  <a:srgbClr val="FF0000"/>
                </a:solidFill>
              </a:rPr>
              <a:t>VGG16 Transfer Learning: </a:t>
            </a:r>
            <a:r>
              <a:rPr b="1" lang="en-US" sz="2400"/>
              <a:t>Accuracy: ~91.56%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Outperformed basic CNN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Learned complex features using pretrained layers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 Unexpected finding: Even simple CNN gave very high accuracy — shows that even basic deep learning works well with clean, labeled medical data.</a:t>
            </a:r>
            <a:endParaRPr b="1" sz="2400"/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1407334" y="104023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ill Sans"/>
              <a:buNone/>
            </a:pPr>
            <a:r>
              <a:rPr b="1" lang="en-US" u="sng">
                <a:solidFill>
                  <a:srgbClr val="FF0000"/>
                </a:solidFill>
              </a:rPr>
              <a:t>8. CONCLUSION AND PHOTOS</a:t>
            </a:r>
            <a:endParaRPr b="1" u="sng">
              <a:solidFill>
                <a:srgbClr val="FF0000"/>
              </a:solidFill>
            </a:endParaRPr>
          </a:p>
        </p:txBody>
      </p:sp>
      <p:sp>
        <p:nvSpPr>
          <p:cNvPr id="178" name="Google Shape;178;p23"/>
          <p:cNvSpPr txBox="1"/>
          <p:nvPr>
            <p:ph idx="1" type="body"/>
          </p:nvPr>
        </p:nvSpPr>
        <p:spPr>
          <a:xfrm>
            <a:off x="543792" y="2089474"/>
            <a:ext cx="11648208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Deep Learning models can accurately detect brain tumors from MRI images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Transfer learning (VGG16) gives excellent results with less training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The pipeline is efficient and can be used in medical applications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>
                <a:solidFill>
                  <a:srgbClr val="FF0000"/>
                </a:solidFill>
                <a:highlight>
                  <a:srgbClr val="FFFF00"/>
                </a:highlight>
              </a:rPr>
              <a:t>Future Work / Enhancements:-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Add more data (different tumor types)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Use Grad-CAM to visualize which part of the brain the model focused 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b="1" lang="en-US" sz="2400"/>
              <a:t>Deploy model via web app or mobile interface</a:t>
            </a:r>
            <a:endParaRPr/>
          </a:p>
          <a:p>
            <a:pPr indent="-8763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1398638" y="1107605"/>
            <a:ext cx="4248559" cy="585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b="1" lang="en-US" sz="3200" u="sng">
                <a:solidFill>
                  <a:srgbClr val="FF0000"/>
                </a:solidFill>
              </a:rPr>
              <a:t>Cont.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3200" u="sng">
              <a:solidFill>
                <a:srgbClr val="FF0000"/>
              </a:solidFill>
            </a:endParaRPr>
          </a:p>
        </p:txBody>
      </p:sp>
      <p:pic>
        <p:nvPicPr>
          <p:cNvPr descr="صورة تحتوي على نص, لقطة شاشة, برامج الوسائط المتعددة, برمجيات&#10;&#10;قد يكون المحتوى الذي تم إنشاؤه بواسطة الذكاء الاصطناعي غير صحيح."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5619" y="1875876"/>
            <a:ext cx="9394723" cy="4112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صورة تحتوي على نص, برمجيات, برامج الوسائط المتعددة, برنامج الرسومات&#10;&#10;قد يكون المحتوى الذي تم إنشاؤه بواسطة الذكاء الاصطناعي غير صحيح." id="189" name="Google Shape;189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883" y="507653"/>
            <a:ext cx="10380356" cy="5126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صورة تحتوي على نص, برمجيات, برامج الوسائط المتعددة, برنامج الرسومات&#10;&#10;قد يكون المحتوى الذي تم إنشاؤه بواسطة الذكاء الاصطناعي غير صحيح." id="194" name="Google Shape;194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404" y="353961"/>
            <a:ext cx="10834554" cy="5235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صورة تحتوي على نص, برمجيات, برامج الوسائط المتعددة, لقطة شاشة&#10;&#10;قد يكون المحتوى الذي تم إنشاؤه بواسطة الذكاء الاصطناعي غير صحيح." id="199" name="Google Shape;199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641" y="560438"/>
            <a:ext cx="10964870" cy="4896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162" y="758631"/>
            <a:ext cx="10958920" cy="484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t/>
            </a:r>
            <a:endParaRPr/>
          </a:p>
        </p:txBody>
      </p:sp>
      <p:pic>
        <p:nvPicPr>
          <p:cNvPr id="210" name="Google Shape;21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195" y="398205"/>
            <a:ext cx="11474543" cy="5250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صورة تحتوي على نص, برمجيات, برامج الوسائط المتعددة, لقطة شاشة&#10;&#10;قد يكون المحتوى الذي تم إنشاؤه بواسطة الذكاء الاصطناعي غير صحيح." id="215" name="Google Shape;215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521" y="530942"/>
            <a:ext cx="11162588" cy="5147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1550053" y="1565566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01600" lvl="0" marL="2286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01600" lvl="0" marL="2286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28600" lvl="0" marL="22860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600"/>
              <a:buChar char="•"/>
            </a:pPr>
            <a:r>
              <a:rPr b="1" lang="en-US" sz="3600">
                <a:solidFill>
                  <a:srgbClr val="FF0000"/>
                </a:solidFill>
              </a:rPr>
              <a:t>ANY QUESTIONS?</a:t>
            </a:r>
            <a:endParaRPr b="1" sz="3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1620391" y="1875055"/>
            <a:ext cx="9603275" cy="3977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2065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2065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US" sz="3900">
                <a:solidFill>
                  <a:srgbClr val="FF0000"/>
                </a:solidFill>
              </a:rPr>
              <a:t>THANK YOU!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36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US" sz="1900"/>
              <a:t>THANK YOU ENG: Mohamed Yousef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US" sz="1900"/>
              <a:t>THANK YOU ENG: RAWAN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1800"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 sz="1800"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US" sz="1700"/>
              <a:t>BY: </a:t>
            </a:r>
            <a:r>
              <a:rPr b="1" lang="en-US" sz="170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Abdelrahman Mohamed Hafez. </a:t>
            </a:r>
            <a:endParaRPr b="1" sz="1500"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:fade thruBlk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نسق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